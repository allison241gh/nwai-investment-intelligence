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  <a:srgbClr val="95C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64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 in the Age of AI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14600" y="141732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24328" y="14173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Market / Comp /…  Scan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94767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24328" y="194767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NWA Group Investing Thesis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47802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24328" y="247802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Investability Score (Opp · Readiness)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5970" y="3008376"/>
            <a:ext cx="329184" cy="502920"/>
          </a:xfrm>
          <a:prstGeom prst="downArrow">
            <a:avLst/>
          </a:prstGeom>
          <a:solidFill>
            <a:srgbClr val="00905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61343" y="141732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71071" y="14173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Pitch &amp; Interviews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61343" y="194767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71071" y="194767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· Questions · Summaries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61343" y="247802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71071" y="247802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Team Deliberations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21873" y="3008376"/>
            <a:ext cx="329184" cy="502920"/>
          </a:xfrm>
          <a:prstGeom prst="downArrow">
            <a:avLst/>
          </a:prstGeom>
          <a:solidFill>
            <a:srgbClr val="00905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5639" y="3737112"/>
            <a:ext cx="1383959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3975" y="373711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0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63240" y="3508512"/>
            <a:ext cx="1371600" cy="1371600"/>
          </a:xfrm>
          <a:prstGeom prst="ellipse">
            <a:avLst/>
          </a:prstGeom>
          <a:solidFill>
            <a:srgbClr val="009051"/>
          </a:solidFill>
          <a:ln w="1905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63240" y="350851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009983" y="3508512"/>
            <a:ext cx="1371600" cy="1371600"/>
          </a:xfrm>
          <a:prstGeom prst="ellipse">
            <a:avLst/>
          </a:prstGeom>
          <a:solidFill>
            <a:srgbClr val="009051"/>
          </a:solidFill>
          <a:ln w="1905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09983" y="3508512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852041" y="3737112"/>
            <a:ext cx="1788024" cy="904462"/>
          </a:xfrm>
          <a:prstGeom prst="roundRect">
            <a:avLst>
              <a:gd name="adj" fmla="val 10000"/>
            </a:avLst>
          </a:prstGeom>
          <a:solidFill>
            <a:srgbClr val="009051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29622" y="37371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DD Report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Investor Memo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47377" y="5062992"/>
            <a:ext cx="414204" cy="640080"/>
          </a:xfrm>
          <a:prstGeom prst="down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0" y="57305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08960" y="5949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4120" y="5062992"/>
            <a:ext cx="414204" cy="640080"/>
          </a:xfrm>
          <a:prstGeom prst="down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47143" y="57305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55703" y="5949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634494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scaffolds the work. NWA members finish the conviction.</a:t>
            </a:r>
            <a:endParaRPr lang="en-US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1DD851CF-3022-E06D-15E0-B78C636F5BAE}"/>
              </a:ext>
            </a:extLst>
          </p:cNvPr>
          <p:cNvSpPr/>
          <p:nvPr/>
        </p:nvSpPr>
        <p:spPr>
          <a:xfrm rot="10800000">
            <a:off x="7798355" y="2980149"/>
            <a:ext cx="329184" cy="502920"/>
          </a:xfrm>
          <a:prstGeom prst="downArrow">
            <a:avLst/>
          </a:prstGeom>
          <a:solidFill>
            <a:srgbClr val="00905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47828676-0BD9-C3B0-74F2-3D6B863E84C3}"/>
              </a:ext>
            </a:extLst>
          </p:cNvPr>
          <p:cNvSpPr/>
          <p:nvPr/>
        </p:nvSpPr>
        <p:spPr>
          <a:xfrm rot="10800000">
            <a:off x="3814439" y="2967228"/>
            <a:ext cx="329184" cy="502920"/>
          </a:xfrm>
          <a:prstGeom prst="downArrow">
            <a:avLst/>
          </a:prstGeom>
          <a:solidFill>
            <a:srgbClr val="00905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Picture 43" descr="A blue and white logo&#10;&#10;Description automatically generated">
            <a:extLst>
              <a:ext uri="{FF2B5EF4-FFF2-40B4-BE49-F238E27FC236}">
                <a16:creationId xmlns:a16="http://schemas.microsoft.com/office/drawing/2014/main" id="{95F89215-D5D2-D261-0574-9D1EAF99D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774" y="196598"/>
            <a:ext cx="2343150" cy="470147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F158000-4148-AABA-091F-DD594D78EE8D}"/>
              </a:ext>
            </a:extLst>
          </p:cNvPr>
          <p:cNvGrpSpPr/>
          <p:nvPr/>
        </p:nvGrpSpPr>
        <p:grpSpPr>
          <a:xfrm>
            <a:off x="1809027" y="3902298"/>
            <a:ext cx="1229499" cy="640080"/>
            <a:chOff x="2381" y="2129102"/>
            <a:chExt cx="2901156" cy="1160462"/>
          </a:xfrm>
        </p:grpSpPr>
        <p:sp>
          <p:nvSpPr>
            <p:cNvPr id="47" name="Chevron 46">
              <a:extLst>
                <a:ext uri="{FF2B5EF4-FFF2-40B4-BE49-F238E27FC236}">
                  <a16:creationId xmlns:a16="http://schemas.microsoft.com/office/drawing/2014/main" id="{6DAE42EF-66A8-610C-9D2E-BAC48B2165B7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solidFill>
              <a:srgbClr val="00905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Chevron 4">
              <a:extLst>
                <a:ext uri="{FF2B5EF4-FFF2-40B4-BE49-F238E27FC236}">
                  <a16:creationId xmlns:a16="http://schemas.microsoft.com/office/drawing/2014/main" id="{9A18ECFD-D262-E1C6-3A85-9B25B0C89497}"/>
                </a:ext>
              </a:extLst>
            </p:cNvPr>
            <p:cNvSpPr txBox="1"/>
            <p:nvPr/>
          </p:nvSpPr>
          <p:spPr>
            <a:xfrm>
              <a:off x="582612" y="2129102"/>
              <a:ext cx="1740694" cy="11604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4026" tIns="68009" rIns="68009" bIns="68009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Submit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3BA2248-820B-1D29-1C7B-A7E418ADA435}"/>
              </a:ext>
            </a:extLst>
          </p:cNvPr>
          <p:cNvGrpSpPr/>
          <p:nvPr/>
        </p:nvGrpSpPr>
        <p:grpSpPr>
          <a:xfrm>
            <a:off x="4618954" y="3922777"/>
            <a:ext cx="2249424" cy="640080"/>
            <a:chOff x="2381" y="2129102"/>
            <a:chExt cx="2901156" cy="1160462"/>
          </a:xfrm>
        </p:grpSpPr>
        <p:sp>
          <p:nvSpPr>
            <p:cNvPr id="50" name="Chevron 49">
              <a:extLst>
                <a:ext uri="{FF2B5EF4-FFF2-40B4-BE49-F238E27FC236}">
                  <a16:creationId xmlns:a16="http://schemas.microsoft.com/office/drawing/2014/main" id="{EFF8FCA7-B97C-FA6F-B0B5-DF66725BFC10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solidFill>
              <a:srgbClr val="00905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Chevron 4">
              <a:extLst>
                <a:ext uri="{FF2B5EF4-FFF2-40B4-BE49-F238E27FC236}">
                  <a16:creationId xmlns:a16="http://schemas.microsoft.com/office/drawing/2014/main" id="{7A65C0A1-CEF8-F691-3712-CFA0CF1B2DB1}"/>
                </a:ext>
              </a:extLst>
            </p:cNvPr>
            <p:cNvSpPr txBox="1"/>
            <p:nvPr/>
          </p:nvSpPr>
          <p:spPr>
            <a:xfrm>
              <a:off x="582612" y="2129102"/>
              <a:ext cx="1740694" cy="11604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4026" tIns="68009" rIns="68009" bIns="68009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Yes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193EA95-5813-A60A-E011-2F5E520ABA22}"/>
              </a:ext>
            </a:extLst>
          </p:cNvPr>
          <p:cNvGrpSpPr/>
          <p:nvPr/>
        </p:nvGrpSpPr>
        <p:grpSpPr>
          <a:xfrm>
            <a:off x="8447076" y="3902298"/>
            <a:ext cx="1229499" cy="640080"/>
            <a:chOff x="2381" y="2129102"/>
            <a:chExt cx="2901156" cy="1160462"/>
          </a:xfrm>
        </p:grpSpPr>
        <p:sp>
          <p:nvSpPr>
            <p:cNvPr id="53" name="Chevron 52">
              <a:extLst>
                <a:ext uri="{FF2B5EF4-FFF2-40B4-BE49-F238E27FC236}">
                  <a16:creationId xmlns:a16="http://schemas.microsoft.com/office/drawing/2014/main" id="{51C08BB8-0E4B-BD34-01C6-620D886C15E4}"/>
                </a:ext>
              </a:extLst>
            </p:cNvPr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/>
            </a:prstGeom>
            <a:solidFill>
              <a:srgbClr val="00905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Chevron 4">
              <a:extLst>
                <a:ext uri="{FF2B5EF4-FFF2-40B4-BE49-F238E27FC236}">
                  <a16:creationId xmlns:a16="http://schemas.microsoft.com/office/drawing/2014/main" id="{5D78CD98-056D-8C36-D8AA-F9E0BA22367D}"/>
                </a:ext>
              </a:extLst>
            </p:cNvPr>
            <p:cNvSpPr txBox="1"/>
            <p:nvPr/>
          </p:nvSpPr>
          <p:spPr>
            <a:xfrm>
              <a:off x="611771" y="2129102"/>
              <a:ext cx="1740695" cy="11604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4026" tIns="68009" rIns="68009" bIns="68009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dirty="0"/>
                <a:t>Yes</a:t>
              </a:r>
              <a:endParaRPr lang="en-US" sz="1200" kern="12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NWA </a:t>
            </a:r>
            <a:r>
              <a:rPr lang="en-US" sz="32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TechGroup</a:t>
            </a: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powered by NWA frameworks, AI agents, and a proprietary investment profile.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8076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8076" y="1508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400" dirty="0"/>
          </a:p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04288" y="1815084"/>
            <a:ext cx="155448" cy="164592"/>
          </a:xfrm>
          <a:prstGeom prst="right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64308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4308" y="1508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400" dirty="0"/>
          </a:p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0520" y="1815084"/>
            <a:ext cx="155448" cy="164592"/>
          </a:xfrm>
          <a:prstGeom prst="right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20540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20540" y="1508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400" dirty="0"/>
          </a:p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Call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16752" y="1815084"/>
            <a:ext cx="155448" cy="164592"/>
          </a:xfrm>
          <a:prstGeom prst="right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6772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6772" y="1508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Diligence</a:t>
            </a:r>
            <a:endParaRPr lang="en-US" sz="1400" dirty="0"/>
          </a:p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72984" y="1815084"/>
            <a:ext cx="155448" cy="164592"/>
          </a:xfrm>
          <a:prstGeom prst="right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33004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33004" y="1508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Report</a:t>
            </a:r>
            <a:endParaRPr lang="en-US" sz="1400" dirty="0"/>
          </a:p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729216" y="1815084"/>
            <a:ext cx="155448" cy="164592"/>
          </a:xfrm>
          <a:prstGeom prst="right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889236" y="1508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89236" y="1508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251460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670048"/>
            <a:ext cx="4754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86600" y="2670048"/>
            <a:ext cx="4754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114757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10972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2971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94360" y="3364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NWA proprietary frameworks Claude loads at every stage.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303580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0" y="303580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Triage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73802" y="303580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73802" y="303580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Q's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38644" y="303580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38644" y="303580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Rubrics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3486" y="303580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3486" y="303580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Moats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08960" y="3438144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08960" y="3438144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Report Format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273802" y="3438144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73802" y="3438144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Format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023360"/>
            <a:ext cx="114757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" y="4023360"/>
            <a:ext cx="109728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594360" y="45537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workforce. Launched in parallel during diligence.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108960" y="422452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108960" y="422452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Monitor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273802" y="422452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273802" y="422452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Researcher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438644" y="422452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38644" y="422452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603486" y="422452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603486" y="422452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108960" y="4626864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108960" y="4626864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Diligence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273802" y="4626864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273802" y="4626864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438644" y="4626864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438644" y="4626864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Assessor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65760" y="5212080"/>
            <a:ext cx="1147572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65760" y="5212080"/>
            <a:ext cx="10972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94360" y="5349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Profile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594360" y="5742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deal uniquely NWA — applied by group.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108960" y="541324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108960" y="541324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Hard Gates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273802" y="541324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273802" y="541324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NWA Filter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438644" y="541324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438644" y="541324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×6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603486" y="5413248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603486" y="5413248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×5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108960" y="5815584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108960" y="5815584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· Software/AI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273802" y="5815584"/>
            <a:ext cx="205511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273802" y="5815584"/>
            <a:ext cx="20551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· Hardware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65760" y="6400800"/>
            <a:ext cx="11430000" cy="2926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 on TechGroup. Pattern designed to scale across all six NWA groups.</a:t>
            </a:r>
            <a:endParaRPr lang="en-US" sz="1600" dirty="0"/>
          </a:p>
        </p:txBody>
      </p:sp>
      <p:pic>
        <p:nvPicPr>
          <p:cNvPr id="75" name="Picture 74" descr="A blue and white logo&#10;&#10;Description automatically generated">
            <a:extLst>
              <a:ext uri="{FF2B5EF4-FFF2-40B4-BE49-F238E27FC236}">
                <a16:creationId xmlns:a16="http://schemas.microsoft.com/office/drawing/2014/main" id="{103A8BFB-242D-9883-01FA-63B7FA49E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774" y="196598"/>
            <a:ext cx="2343150" cy="4701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NWAi</a:t>
            </a: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tracks. One substrate. A compounding moat.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5661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640080" cy="64008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Intelligence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scaffolds. Members finish conviction.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87752"/>
            <a:ext cx="3017520" cy="0"/>
          </a:xfrm>
          <a:prstGeom prst="line">
            <a:avLst/>
          </a:prstGeom>
          <a:noFill/>
          <a:ln w="1905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295351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937609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→ Diligence → Report → Memo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366674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650841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research agents · 9 NWA frameworks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" y="437997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364073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 on TechGroup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150876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1508760"/>
            <a:ext cx="356616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1801368"/>
            <a:ext cx="640080" cy="64008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0352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Intelligence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0352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Domains &amp; Social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587752"/>
            <a:ext cx="3017520" cy="0"/>
          </a:xfrm>
          <a:prstGeom prst="line">
            <a:avLst/>
          </a:prstGeom>
          <a:noFill/>
          <a:ln w="1905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90288" y="295351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920117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members across 6 verticals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90288" y="3666744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633349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graph + Member Matching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90288" y="437997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19" y="4346581"/>
            <a:ext cx="293601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Engagement  deal/social/network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150876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38160" y="1508760"/>
            <a:ext cx="356616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12480" y="1801368"/>
            <a:ext cx="640080" cy="64008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12480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14400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Intelligence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14400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outward layer — where NWA connects.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2587752"/>
            <a:ext cx="3017520" cy="0"/>
          </a:xfrm>
          <a:prstGeom prst="line">
            <a:avLst/>
          </a:prstGeom>
          <a:noFill/>
          <a:ln w="1905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430768" y="2953512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23376" y="293005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sourcing- Incubator &amp; Accelerators, Labs,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430768" y="366674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723376" y="364328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Syndication: lead or follow with intent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30768" y="437997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723376" y="435652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Partner, cross-syndicate, declined intel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" y="5440680"/>
            <a:ext cx="1147572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65760" y="5440680"/>
            <a:ext cx="109728" cy="3505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65760" y="5791200"/>
            <a:ext cx="109728" cy="3505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65760" y="6141720"/>
            <a:ext cx="109728" cy="3505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" y="555040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Expertise Graph + Decisions Ledger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" y="61539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moat — what no vendor can sell, what every track feeds and draws from.</a:t>
            </a:r>
            <a:endParaRPr lang="en-US" sz="1200" dirty="0"/>
          </a:p>
        </p:txBody>
      </p:sp>
      <p:pic>
        <p:nvPicPr>
          <p:cNvPr id="49" name="Picture 48" descr="A blue and white logo&#10;&#10;Description automatically generated">
            <a:extLst>
              <a:ext uri="{FF2B5EF4-FFF2-40B4-BE49-F238E27FC236}">
                <a16:creationId xmlns:a16="http://schemas.microsoft.com/office/drawing/2014/main" id="{4A2F29F0-B2F2-2543-B29F-6DF01EEAA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774" y="196598"/>
            <a:ext cx="2343150" cy="4701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328</Words>
  <Application>Microsoft Macintosh PowerPoint</Application>
  <PresentationFormat>Widescreen</PresentationFormat>
  <Paragraphs>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NWAi — AI Initiative Update</dc:title>
  <dc:subject>PptxGenJS Presentation</dc:subject>
  <dc:creator>Jamie Allison · NWA</dc:creator>
  <cp:lastModifiedBy>jamie allison</cp:lastModifiedBy>
  <cp:revision>3</cp:revision>
  <dcterms:created xsi:type="dcterms:W3CDTF">2026-05-04T12:45:05Z</dcterms:created>
  <dcterms:modified xsi:type="dcterms:W3CDTF">2026-05-04T13:40:59Z</dcterms:modified>
</cp:coreProperties>
</file>